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25" r:id="rId5"/>
    <p:sldId id="384" r:id="rId6"/>
    <p:sldId id="385" r:id="rId7"/>
    <p:sldId id="386" r:id="rId8"/>
    <p:sldId id="387" r:id="rId9"/>
    <p:sldId id="388" r:id="rId10"/>
    <p:sldId id="389" r:id="rId11"/>
    <p:sldId id="390" r:id="rId12"/>
    <p:sldId id="391" r:id="rId13"/>
    <p:sldId id="397" r:id="rId14"/>
    <p:sldId id="393" r:id="rId15"/>
    <p:sldId id="394" r:id="rId16"/>
    <p:sldId id="396" r:id="rId17"/>
    <p:sldId id="33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  <p:cmAuthor id="4" name="ASUS" initials="A" lastIdx="1" clrIdx="3">
    <p:extLst>
      <p:ext uri="{19B8F6BF-5375-455C-9EA6-DF929625EA0E}">
        <p15:presenceInfo xmlns:p15="http://schemas.microsoft.com/office/powerpoint/2012/main" userId="ASU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AEE2"/>
    <a:srgbClr val="DDFFDD"/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16" autoAdjust="0"/>
    <p:restoredTop sz="94205" autoAdjust="0"/>
  </p:normalViewPr>
  <p:slideViewPr>
    <p:cSldViewPr snapToGrid="0">
      <p:cViewPr>
        <p:scale>
          <a:sx n="100" d="100"/>
          <a:sy n="100" d="100"/>
        </p:scale>
        <p:origin x="1362" y="72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9630BF-61F5-4B85-976B-B9A18D569E21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395B0-D765-4D24-88BE-D226BBA545B2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1C745E-9B5A-59BF-BF50-4F251E39D58D}"/>
              </a:ext>
            </a:extLst>
          </p:cNvPr>
          <p:cNvSpPr/>
          <p:nvPr userDrawn="1"/>
        </p:nvSpPr>
        <p:spPr>
          <a:xfrm>
            <a:off x="304800" y="266701"/>
            <a:ext cx="11582400" cy="63245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2B4A7EA-9E3F-9CE1-56B5-92F4FDDA69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24100" y="758952"/>
            <a:ext cx="7543800" cy="5029200"/>
          </a:xfrm>
          <a:custGeom>
            <a:avLst/>
            <a:gdLst>
              <a:gd name="connsiteX0" fmla="*/ 3567113 w 7543800"/>
              <a:gd name="connsiteY0" fmla="*/ 4869270 h 5029200"/>
              <a:gd name="connsiteX1" fmla="*/ 3567113 w 7543800"/>
              <a:gd name="connsiteY1" fmla="*/ 4957572 h 5029200"/>
              <a:gd name="connsiteX2" fmla="*/ 3976688 w 7543800"/>
              <a:gd name="connsiteY2" fmla="*/ 4957572 h 5029200"/>
              <a:gd name="connsiteX3" fmla="*/ 3976688 w 7543800"/>
              <a:gd name="connsiteY3" fmla="*/ 4869270 h 5029200"/>
              <a:gd name="connsiteX4" fmla="*/ 0 w 7543800"/>
              <a:gd name="connsiteY4" fmla="*/ 0 h 5029200"/>
              <a:gd name="connsiteX5" fmla="*/ 7543800 w 7543800"/>
              <a:gd name="connsiteY5" fmla="*/ 0 h 5029200"/>
              <a:gd name="connsiteX6" fmla="*/ 7543800 w 7543800"/>
              <a:gd name="connsiteY6" fmla="*/ 5029200 h 5029200"/>
              <a:gd name="connsiteX7" fmla="*/ 0 w 7543800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43800" h="5029200">
                <a:moveTo>
                  <a:pt x="3567113" y="4869270"/>
                </a:moveTo>
                <a:lnTo>
                  <a:pt x="3567113" y="4957572"/>
                </a:lnTo>
                <a:lnTo>
                  <a:pt x="3976688" y="4957572"/>
                </a:lnTo>
                <a:lnTo>
                  <a:pt x="3976688" y="4869270"/>
                </a:lnTo>
                <a:close/>
                <a:moveTo>
                  <a:pt x="0" y="0"/>
                </a:moveTo>
                <a:lnTo>
                  <a:pt x="7543800" y="0"/>
                </a:lnTo>
                <a:lnTo>
                  <a:pt x="7543800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08960"/>
            <a:ext cx="10515600" cy="640080"/>
          </a:xfrm>
        </p:spPr>
        <p:txBody>
          <a:bodyPr anchor="ctr"/>
          <a:lstStyle>
            <a:lvl1pPr algn="ctr">
              <a:defRPr sz="60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F70834-CB8D-A95B-D859-6E5B4C6B4F78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4B2501-78A9-E41B-7C2D-09F09ADDCB5E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A0478E-A529-CF4E-CE5C-583ACA20D66C}"/>
              </a:ext>
            </a:extLst>
          </p:cNvPr>
          <p:cNvSpPr/>
          <p:nvPr userDrawn="1"/>
        </p:nvSpPr>
        <p:spPr>
          <a:xfrm>
            <a:off x="4462849" y="685800"/>
            <a:ext cx="7119551" cy="5486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124712"/>
            <a:ext cx="3886200" cy="548640"/>
          </a:xfrm>
        </p:spPr>
        <p:txBody>
          <a:bodyPr/>
          <a:lstStyle>
            <a:lvl1pPr>
              <a:defRPr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816352"/>
            <a:ext cx="3602736" cy="3364992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000" cap="all" spc="0" baseline="0"/>
            </a:lvl1pPr>
            <a:lvl2pPr marL="228600">
              <a:defRPr spc="0" baseline="0"/>
            </a:lvl2pPr>
            <a:lvl3pPr marL="457200">
              <a:defRPr spc="0" baseline="0"/>
            </a:lvl3pPr>
            <a:lvl4pPr marL="685800">
              <a:defRPr spc="0" baseline="0"/>
            </a:lvl4pPr>
            <a:lvl5pPr marL="1143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46904" y="1188720"/>
            <a:ext cx="6638544" cy="448056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92E47F-4E2C-B4B2-51F0-43D9D15C5A60}"/>
              </a:ext>
            </a:extLst>
          </p:cNvPr>
          <p:cNvCxnSpPr>
            <a:cxnSpLocks/>
          </p:cNvCxnSpPr>
          <p:nvPr userDrawn="1"/>
        </p:nvCxnSpPr>
        <p:spPr>
          <a:xfrm>
            <a:off x="1295400" y="205740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BA0478E-A529-CF4E-CE5C-583ACA20D66C}"/>
              </a:ext>
            </a:extLst>
          </p:cNvPr>
          <p:cNvSpPr/>
          <p:nvPr userDrawn="1"/>
        </p:nvSpPr>
        <p:spPr>
          <a:xfrm>
            <a:off x="3578352" y="0"/>
            <a:ext cx="861364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824" y="1124712"/>
            <a:ext cx="5760720" cy="548640"/>
          </a:xfrm>
        </p:spPr>
        <p:txBody>
          <a:bodyPr/>
          <a:lstStyle>
            <a:lvl1pPr>
              <a:defRPr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9824" y="2889504"/>
            <a:ext cx="5760720" cy="3319272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000" cap="none" spc="0" baseline="0"/>
            </a:lvl1pPr>
            <a:lvl2pPr marL="228600">
              <a:defRPr spc="0" baseline="0"/>
            </a:lvl2pPr>
            <a:lvl3pPr marL="457200">
              <a:defRPr spc="0" baseline="0"/>
            </a:lvl3pPr>
            <a:lvl4pPr marL="685800">
              <a:defRPr spc="0" baseline="0"/>
            </a:lvl4pPr>
            <a:lvl5pPr marL="1143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36BAAC-D89F-682D-12A3-1C31F92F0FAF}"/>
              </a:ext>
            </a:extLst>
          </p:cNvPr>
          <p:cNvCxnSpPr>
            <a:cxnSpLocks/>
          </p:cNvCxnSpPr>
          <p:nvPr userDrawn="1"/>
        </p:nvCxnSpPr>
        <p:spPr>
          <a:xfrm>
            <a:off x="649224" y="2667000"/>
            <a:ext cx="0" cy="31242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877625-E710-6DF2-3E49-374C6DD8DBC0}"/>
              </a:ext>
            </a:extLst>
          </p:cNvPr>
          <p:cNvCxnSpPr>
            <a:cxnSpLocks/>
          </p:cNvCxnSpPr>
          <p:nvPr userDrawn="1"/>
        </p:nvCxnSpPr>
        <p:spPr>
          <a:xfrm>
            <a:off x="5447344" y="205740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7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it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D0AC02C-19A4-4754-CC96-34357DEFF5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7048" y="1481328"/>
            <a:ext cx="9144000" cy="3886200"/>
          </a:xfrm>
          <a:custGeom>
            <a:avLst/>
            <a:gdLst>
              <a:gd name="connsiteX0" fmla="*/ 6521576 w 9144000"/>
              <a:gd name="connsiteY0" fmla="*/ 2811867 h 3886200"/>
              <a:gd name="connsiteX1" fmla="*/ 6521576 w 9144000"/>
              <a:gd name="connsiteY1" fmla="*/ 2900169 h 3886200"/>
              <a:gd name="connsiteX2" fmla="*/ 6931151 w 9144000"/>
              <a:gd name="connsiteY2" fmla="*/ 2900169 h 3886200"/>
              <a:gd name="connsiteX3" fmla="*/ 6931151 w 9144000"/>
              <a:gd name="connsiteY3" fmla="*/ 2811867 h 3886200"/>
              <a:gd name="connsiteX4" fmla="*/ 0 w 9144000"/>
              <a:gd name="connsiteY4" fmla="*/ 0 h 3886200"/>
              <a:gd name="connsiteX5" fmla="*/ 9144000 w 9144000"/>
              <a:gd name="connsiteY5" fmla="*/ 0 h 3886200"/>
              <a:gd name="connsiteX6" fmla="*/ 9144000 w 9144000"/>
              <a:gd name="connsiteY6" fmla="*/ 3886200 h 3886200"/>
              <a:gd name="connsiteX7" fmla="*/ 0 w 9144000"/>
              <a:gd name="connsiteY7" fmla="*/ 3886200 h 388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3886200">
                <a:moveTo>
                  <a:pt x="6521576" y="2811867"/>
                </a:moveTo>
                <a:lnTo>
                  <a:pt x="6521576" y="2900169"/>
                </a:lnTo>
                <a:lnTo>
                  <a:pt x="6931151" y="2900169"/>
                </a:lnTo>
                <a:lnTo>
                  <a:pt x="6931151" y="2811867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3886200"/>
                </a:lnTo>
                <a:lnTo>
                  <a:pt x="0" y="38862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0636" y="3200400"/>
            <a:ext cx="8110728" cy="457200"/>
          </a:xfrm>
        </p:spPr>
        <p:txBody>
          <a:bodyPr anchor="ctr"/>
          <a:lstStyle>
            <a:lvl1pPr algn="ctr">
              <a:defRPr sz="48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6720" y="4745736"/>
            <a:ext cx="1389888" cy="1280160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7004C-CFEF-6E88-A3C1-60FBC7F8CD13}"/>
              </a:ext>
            </a:extLst>
          </p:cNvPr>
          <p:cNvSpPr/>
          <p:nvPr userDrawn="1"/>
        </p:nvSpPr>
        <p:spPr>
          <a:xfrm>
            <a:off x="8048624" y="4293195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31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609600"/>
            <a:ext cx="10058400" cy="914400"/>
          </a:xfrm>
        </p:spPr>
        <p:txBody>
          <a:bodyPr/>
          <a:lstStyle>
            <a:lvl1pPr>
              <a:defRPr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855945"/>
            <a:ext cx="9820656" cy="4352544"/>
          </a:xfrm>
        </p:spPr>
        <p:txBody>
          <a:bodyPr/>
          <a:lstStyle>
            <a:lvl1pPr>
              <a:defRPr spc="0" baseline="0"/>
            </a:lvl1pPr>
            <a:lvl2pPr>
              <a:defRPr spc="0" baseline="0"/>
            </a:lvl2pPr>
            <a:lvl3pPr>
              <a:defRPr spc="0" baseline="0"/>
            </a:lvl3pPr>
            <a:lvl4pPr>
              <a:defRPr spc="0" baseline="0"/>
            </a:lvl4pPr>
            <a:lvl5pPr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609600"/>
            <a:ext cx="9829800" cy="914400"/>
          </a:xfrm>
        </p:spPr>
        <p:txBody>
          <a:bodyPr/>
          <a:lstStyle>
            <a:lvl1pPr algn="ctr">
              <a:defRPr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0" y="1746504"/>
            <a:ext cx="9829800" cy="4352544"/>
          </a:xfrm>
        </p:spPr>
        <p:txBody>
          <a:bodyPr/>
          <a:lstStyle>
            <a:lvl1pPr>
              <a:defRPr spc="0" baseline="0"/>
            </a:lvl1pPr>
            <a:lvl2pPr>
              <a:defRPr spc="0" baseline="0"/>
            </a:lvl2pPr>
            <a:lvl3pPr>
              <a:defRPr spc="0" baseline="0"/>
            </a:lvl3pPr>
            <a:lvl4pPr>
              <a:defRPr spc="0" baseline="0"/>
            </a:lvl4pPr>
            <a:lvl5pPr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641840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7811310-A21F-0BFB-8198-22EDFCF9F4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70576" y="658368"/>
            <a:ext cx="6821424" cy="334670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3D2EFC-F14F-5508-06EE-4E5B5C535E16}"/>
              </a:ext>
            </a:extLst>
          </p:cNvPr>
          <p:cNvCxnSpPr>
            <a:cxnSpLocks/>
          </p:cNvCxnSpPr>
          <p:nvPr userDrawn="1"/>
        </p:nvCxnSpPr>
        <p:spPr>
          <a:xfrm>
            <a:off x="1819102" y="5548842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 2">
            <a:extLst>
              <a:ext uri="{FF2B5EF4-FFF2-40B4-BE49-F238E27FC236}">
                <a16:creationId xmlns:a16="http://schemas.microsoft.com/office/drawing/2014/main" id="{28A6ACFB-D620-056D-1C62-903C5FBCE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9656" y="5943600"/>
            <a:ext cx="4809744" cy="256032"/>
          </a:xfrm>
        </p:spPr>
        <p:txBody>
          <a:bodyPr/>
          <a:lstStyle>
            <a:lvl1pPr marL="0" indent="0" algn="l">
              <a:buNone/>
              <a:defRPr sz="2000" cap="all" spc="200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656" y="2459736"/>
            <a:ext cx="5157216" cy="2670048"/>
          </a:xfrm>
        </p:spPr>
        <p:txBody>
          <a:bodyPr anchor="b"/>
          <a:lstStyle>
            <a:lvl1pPr algn="l">
              <a:lnSpc>
                <a:spcPts val="5200"/>
              </a:lnSpc>
              <a:defRPr sz="360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18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09600"/>
            <a:ext cx="10021824" cy="53949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6F01F221-54DA-6EF2-D9DE-2B9A7AB60B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98448" y="2441448"/>
            <a:ext cx="1828800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BEECCD2-A0EF-0622-7377-A2BAE97865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6200" y="2441448"/>
            <a:ext cx="1828800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DD9A982-D940-ADB7-F949-B3898D1984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73952" y="2441448"/>
            <a:ext cx="1828800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92630AD-4FA0-C5D3-DC29-AE0E67CB6CA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34272" y="2441448"/>
            <a:ext cx="1828800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4974336"/>
            <a:ext cx="1828800" cy="539496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5596128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86200" y="4974336"/>
            <a:ext cx="1828800" cy="539496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86200" y="5596128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73952" y="4974336"/>
            <a:ext cx="1828800" cy="539496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73952" y="5596128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70848" y="4974336"/>
            <a:ext cx="1828800" cy="539496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70848" y="5596128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6E73E07-0346-2BA8-44BC-6CB3BDEAAA99}"/>
              </a:ext>
            </a:extLst>
          </p:cNvPr>
          <p:cNvCxnSpPr>
            <a:cxnSpLocks/>
          </p:cNvCxnSpPr>
          <p:nvPr userDrawn="1"/>
        </p:nvCxnSpPr>
        <p:spPr>
          <a:xfrm>
            <a:off x="4592478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E62977-27C7-5882-6A33-75257911D09A}"/>
              </a:ext>
            </a:extLst>
          </p:cNvPr>
          <p:cNvCxnSpPr>
            <a:cxnSpLocks/>
          </p:cNvCxnSpPr>
          <p:nvPr userDrawn="1"/>
        </p:nvCxnSpPr>
        <p:spPr>
          <a:xfrm>
            <a:off x="2004720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705476C-2972-A423-7282-BABA9AAB32E6}"/>
              </a:ext>
            </a:extLst>
          </p:cNvPr>
          <p:cNvCxnSpPr>
            <a:cxnSpLocks/>
          </p:cNvCxnSpPr>
          <p:nvPr userDrawn="1"/>
        </p:nvCxnSpPr>
        <p:spPr>
          <a:xfrm>
            <a:off x="9737699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0D781B-3CB4-A523-427F-3D444B28E60E}"/>
              </a:ext>
            </a:extLst>
          </p:cNvPr>
          <p:cNvCxnSpPr>
            <a:cxnSpLocks/>
          </p:cNvCxnSpPr>
          <p:nvPr userDrawn="1"/>
        </p:nvCxnSpPr>
        <p:spPr>
          <a:xfrm>
            <a:off x="7183278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048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09600"/>
            <a:ext cx="10332720" cy="53949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6F01F221-54DA-6EF2-D9DE-2B9A7AB60B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36776" y="17556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BEECCD2-A0EF-0622-7377-A2BAE97865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24528" y="17556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DD9A982-D940-ADB7-F949-B3898D1984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48856" y="17556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92630AD-4FA0-C5D3-DC29-AE0E67CB6CA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381744" y="17556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3300984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37307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86200" y="3300984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86200" y="37307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10528" y="3300984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10528" y="37307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34272" y="3300984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34272" y="37307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42A71B-2F05-7F67-85C0-0C5AA947983D}"/>
              </a:ext>
            </a:extLst>
          </p:cNvPr>
          <p:cNvCxnSpPr>
            <a:cxnSpLocks/>
          </p:cNvCxnSpPr>
          <p:nvPr userDrawn="1"/>
        </p:nvCxnSpPr>
        <p:spPr>
          <a:xfrm>
            <a:off x="4684061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BC25395-CA95-6040-8ED6-C7D8A2E16C49}"/>
              </a:ext>
            </a:extLst>
          </p:cNvPr>
          <p:cNvCxnSpPr>
            <a:cxnSpLocks/>
          </p:cNvCxnSpPr>
          <p:nvPr userDrawn="1"/>
        </p:nvCxnSpPr>
        <p:spPr>
          <a:xfrm>
            <a:off x="2096160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2F589B-649A-57C2-1D3E-79FDFF84BADB}"/>
              </a:ext>
            </a:extLst>
          </p:cNvPr>
          <p:cNvCxnSpPr>
            <a:cxnSpLocks/>
          </p:cNvCxnSpPr>
          <p:nvPr userDrawn="1"/>
        </p:nvCxnSpPr>
        <p:spPr>
          <a:xfrm>
            <a:off x="9837985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F3728F-0FBF-5AD2-357E-FFCFFBF7687E}"/>
              </a:ext>
            </a:extLst>
          </p:cNvPr>
          <p:cNvCxnSpPr>
            <a:cxnSpLocks/>
          </p:cNvCxnSpPr>
          <p:nvPr userDrawn="1"/>
        </p:nvCxnSpPr>
        <p:spPr>
          <a:xfrm>
            <a:off x="7306235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09A756E1-5275-58A9-7B09-95BEA4F4FA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636776" y="42702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A4DA2F88-85BF-29B8-6321-AF19B25A626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24528" y="42702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4636CEF4-05E9-F5BB-BD6F-6B081DBDCA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8856" y="42702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67B57C06-A1D0-7C74-6A14-2BFF0B1FC17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81744" y="42702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1025D334-8990-1960-8865-C877ECC47E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98448" y="5824728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F491CA2-1A10-E7DB-4203-DC7E9E48CC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98448" y="62453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697C28E5-6260-6DA9-B4F0-665506F525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86200" y="5824728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A594A25E-7F2D-4188-16B7-C34485FDD2F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886200" y="62453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584B38BF-6197-486D-7134-F86E1754AF7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10528" y="5824728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D788F8D9-8CDB-C458-9AAD-0426AB467D2A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10528" y="62453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78447882-2C86-B3A7-9450-29A0778E1B0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034272" y="5824728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E321AAE1-532A-23F0-9108-055D0D7BDFB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034272" y="62453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1BC4478-FBEA-422F-73BA-0A422F15D7EA}"/>
              </a:ext>
            </a:extLst>
          </p:cNvPr>
          <p:cNvCxnSpPr>
            <a:cxnSpLocks/>
          </p:cNvCxnSpPr>
          <p:nvPr userDrawn="1"/>
        </p:nvCxnSpPr>
        <p:spPr>
          <a:xfrm>
            <a:off x="4684061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A9AA302-5107-FDE7-557C-3305A9A7DEC2}"/>
              </a:ext>
            </a:extLst>
          </p:cNvPr>
          <p:cNvCxnSpPr>
            <a:cxnSpLocks/>
          </p:cNvCxnSpPr>
          <p:nvPr userDrawn="1"/>
        </p:nvCxnSpPr>
        <p:spPr>
          <a:xfrm>
            <a:off x="2096160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9C9F7A3-B120-C59A-E379-173F84B7D153}"/>
              </a:ext>
            </a:extLst>
          </p:cNvPr>
          <p:cNvCxnSpPr>
            <a:cxnSpLocks/>
          </p:cNvCxnSpPr>
          <p:nvPr userDrawn="1"/>
        </p:nvCxnSpPr>
        <p:spPr>
          <a:xfrm>
            <a:off x="9837985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073A4E7-9D16-A6C0-E297-A36B10A2FABB}"/>
              </a:ext>
            </a:extLst>
          </p:cNvPr>
          <p:cNvCxnSpPr>
            <a:cxnSpLocks/>
          </p:cNvCxnSpPr>
          <p:nvPr userDrawn="1"/>
        </p:nvCxnSpPr>
        <p:spPr>
          <a:xfrm>
            <a:off x="7306235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777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7068A9B7-F56A-44B7-D61E-66289C79F1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5175504"/>
            <a:ext cx="12188952" cy="168249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088" y="609600"/>
            <a:ext cx="10021824" cy="1252728"/>
          </a:xfrm>
        </p:spPr>
        <p:txBody>
          <a:bodyPr/>
          <a:lstStyle>
            <a:lvl1pPr algn="ctr">
              <a:lnSpc>
                <a:spcPts val="576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83280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83280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68112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468112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52944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552944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42A71B-2F05-7F67-85C0-0C5AA947983D}"/>
              </a:ext>
            </a:extLst>
          </p:cNvPr>
          <p:cNvCxnSpPr>
            <a:cxnSpLocks/>
          </p:cNvCxnSpPr>
          <p:nvPr userDrawn="1"/>
        </p:nvCxnSpPr>
        <p:spPr>
          <a:xfrm>
            <a:off x="3383280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BC25395-CA95-6040-8ED6-C7D8A2E16C49}"/>
              </a:ext>
            </a:extLst>
          </p:cNvPr>
          <p:cNvCxnSpPr>
            <a:cxnSpLocks/>
          </p:cNvCxnSpPr>
          <p:nvPr userDrawn="1"/>
        </p:nvCxnSpPr>
        <p:spPr>
          <a:xfrm>
            <a:off x="9637776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2F589B-649A-57C2-1D3E-79FDFF84BADB}"/>
              </a:ext>
            </a:extLst>
          </p:cNvPr>
          <p:cNvCxnSpPr>
            <a:cxnSpLocks/>
          </p:cNvCxnSpPr>
          <p:nvPr userDrawn="1"/>
        </p:nvCxnSpPr>
        <p:spPr>
          <a:xfrm>
            <a:off x="7552944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F3728F-0FBF-5AD2-357E-FFCFFBF7687E}"/>
              </a:ext>
            </a:extLst>
          </p:cNvPr>
          <p:cNvCxnSpPr>
            <a:cxnSpLocks/>
          </p:cNvCxnSpPr>
          <p:nvPr userDrawn="1"/>
        </p:nvCxnSpPr>
        <p:spPr>
          <a:xfrm>
            <a:off x="5468112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1025D334-8990-1960-8865-C877ECC47E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37776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F491CA2-1A10-E7DB-4203-DC7E9E48CC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637776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A9AA302-5107-FDE7-557C-3305A9A7DEC2}"/>
              </a:ext>
            </a:extLst>
          </p:cNvPr>
          <p:cNvCxnSpPr>
            <a:cxnSpLocks/>
          </p:cNvCxnSpPr>
          <p:nvPr userDrawn="1"/>
        </p:nvCxnSpPr>
        <p:spPr>
          <a:xfrm>
            <a:off x="1298448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106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7068A9B7-F56A-44B7-D61E-66289C79F1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0"/>
            <a:ext cx="12188952" cy="168249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5221224"/>
            <a:ext cx="3621024" cy="621792"/>
          </a:xfrm>
        </p:spPr>
        <p:txBody>
          <a:bodyPr/>
          <a:lstStyle>
            <a:lvl1pPr algn="l">
              <a:lnSpc>
                <a:spcPts val="576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00984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12664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315200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1025D334-8990-1960-8865-C877ECC47E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21800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769F54-E10C-40C4-5EFF-E8A9CA520AEC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6E7B1EF-9D07-1E66-7467-93C9AE48BD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19200" y="2871216"/>
            <a:ext cx="9595104" cy="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solid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00984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12664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315200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F491CA2-1A10-E7DB-4203-DC7E9E48CC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321800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476138-49FF-70BE-6359-0A511EFB243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00984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6EFC43B-3F8D-6957-F343-F3D9C3E7A7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98448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6007DD2-0F2E-6F92-8457-FC670750ED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12664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06C5667F-C463-51B6-B8D6-F757BDB8AFC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15200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FF09CBB-BD48-E8E5-EECF-B6CBC36B236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21800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333783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81D2A-2C75-8B2A-DA41-F42ABBA59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56832" cy="6858000"/>
          </a:xfrm>
          <a:custGeom>
            <a:avLst/>
            <a:gdLst>
              <a:gd name="connsiteX0" fmla="*/ 1295400 w 6656832"/>
              <a:gd name="connsiteY0" fmla="*/ 1492377 h 6858000"/>
              <a:gd name="connsiteX1" fmla="*/ 1295400 w 6656832"/>
              <a:gd name="connsiteY1" fmla="*/ 1580679 h 6858000"/>
              <a:gd name="connsiteX2" fmla="*/ 1704975 w 6656832"/>
              <a:gd name="connsiteY2" fmla="*/ 1580679 h 6858000"/>
              <a:gd name="connsiteX3" fmla="*/ 1704975 w 6656832"/>
              <a:gd name="connsiteY3" fmla="*/ 1492377 h 6858000"/>
              <a:gd name="connsiteX4" fmla="*/ 0 w 6656832"/>
              <a:gd name="connsiteY4" fmla="*/ 0 h 6858000"/>
              <a:gd name="connsiteX5" fmla="*/ 6656832 w 6656832"/>
              <a:gd name="connsiteY5" fmla="*/ 0 h 6858000"/>
              <a:gd name="connsiteX6" fmla="*/ 6656832 w 6656832"/>
              <a:gd name="connsiteY6" fmla="*/ 6858000 h 6858000"/>
              <a:gd name="connsiteX7" fmla="*/ 0 w 665683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56832" h="6858000">
                <a:moveTo>
                  <a:pt x="1295400" y="1492377"/>
                </a:moveTo>
                <a:lnTo>
                  <a:pt x="1295400" y="1580679"/>
                </a:lnTo>
                <a:lnTo>
                  <a:pt x="1704975" y="1580679"/>
                </a:lnTo>
                <a:lnTo>
                  <a:pt x="1704975" y="1492377"/>
                </a:lnTo>
                <a:close/>
                <a:moveTo>
                  <a:pt x="0" y="0"/>
                </a:moveTo>
                <a:lnTo>
                  <a:pt x="6656832" y="0"/>
                </a:lnTo>
                <a:lnTo>
                  <a:pt x="665683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609600"/>
            <a:ext cx="6656832" cy="530352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CA7A15A-B484-E46E-FF4D-179F31F17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8448" y="2209800"/>
            <a:ext cx="4495744" cy="4648200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310896" tIns="365760" rIns="274320" anchor="t">
            <a:noAutofit/>
          </a:bodyPr>
          <a:lstStyle>
            <a:lvl1pPr marL="0" indent="0">
              <a:lnSpc>
                <a:spcPts val="240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18488" y="3630168"/>
            <a:ext cx="3886200" cy="2514600"/>
          </a:xfrm>
        </p:spPr>
        <p:txBody>
          <a:bodyPr/>
          <a:lstStyle>
            <a:lvl1pPr marL="0" indent="0">
              <a:buNone/>
              <a:defRPr sz="1400"/>
            </a:lvl1pPr>
            <a:lvl2pPr marL="228600">
              <a:defRPr sz="1400"/>
            </a:lvl2pPr>
            <a:lvl3pPr marL="457200">
              <a:defRPr sz="1400"/>
            </a:lvl3pPr>
            <a:lvl4pPr marL="685800">
              <a:defRPr sz="1400"/>
            </a:lvl4pPr>
            <a:lvl5pPr marL="1143000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123542D-139D-45CC-7853-FE3702B4B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05600" y="2209800"/>
            <a:ext cx="4495744" cy="4648200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310896" tIns="365760" rIns="274320" anchor="t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013448" y="3630168"/>
            <a:ext cx="3886200" cy="2514600"/>
          </a:xfrm>
        </p:spPr>
        <p:txBody>
          <a:bodyPr/>
          <a:lstStyle>
            <a:lvl1pPr marL="0" indent="0">
              <a:buNone/>
              <a:defRPr sz="1400"/>
            </a:lvl1pPr>
            <a:lvl2pPr marL="228600">
              <a:defRPr sz="1400"/>
            </a:lvl2pPr>
            <a:lvl3pPr marL="457200">
              <a:defRPr sz="1400"/>
            </a:lvl3pPr>
            <a:lvl4pPr marL="685800">
              <a:defRPr sz="1400"/>
            </a:lvl4pPr>
            <a:lvl5pPr marL="1143000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9A9D2-C6ED-A99E-6041-56B5688418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71F094C-919A-3E78-DE58-27C2B997C9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896335-CC4F-4D72-23F0-F7FBFA640021}"/>
              </a:ext>
            </a:extLst>
          </p:cNvPr>
          <p:cNvSpPr/>
          <p:nvPr userDrawn="1"/>
        </p:nvSpPr>
        <p:spPr>
          <a:xfrm>
            <a:off x="1295400" y="1492377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zon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9EF4E7-F4EF-FFCD-9B0C-961E519F6DDD}"/>
              </a:ext>
            </a:extLst>
          </p:cNvPr>
          <p:cNvSpPr/>
          <p:nvPr userDrawn="1"/>
        </p:nvSpPr>
        <p:spPr>
          <a:xfrm>
            <a:off x="5791200" y="0"/>
            <a:ext cx="64008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4014216"/>
            <a:ext cx="4160520" cy="182880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CA7A15A-B484-E46E-FF4D-179F31F17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98080" y="621792"/>
            <a:ext cx="4114800" cy="347472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noFill/>
        </p:spPr>
        <p:txBody>
          <a:bodyPr wrap="square" lIns="0" tIns="0" rIns="0" anchor="b">
            <a:noAutofit/>
          </a:bodyPr>
          <a:lstStyle>
            <a:lvl1pPr marL="0" indent="0">
              <a:lnSpc>
                <a:spcPts val="172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98080" y="1069848"/>
            <a:ext cx="3886200" cy="152704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/>
            </a:lvl1pPr>
            <a:lvl2pPr marL="228600">
              <a:lnSpc>
                <a:spcPct val="100000"/>
              </a:lnSpc>
              <a:defRPr sz="1400"/>
            </a:lvl2pPr>
            <a:lvl3pPr marL="457200">
              <a:lnSpc>
                <a:spcPct val="100000"/>
              </a:lnSpc>
              <a:defRPr sz="1400"/>
            </a:lvl3pPr>
            <a:lvl4pPr marL="685800">
              <a:lnSpc>
                <a:spcPct val="100000"/>
              </a:lnSpc>
              <a:defRPr sz="1400"/>
            </a:lvl4pPr>
            <a:lvl5pPr marL="1143000"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123542D-139D-45CC-7853-FE3702B4B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98080" y="3172968"/>
            <a:ext cx="4114800" cy="347472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noFill/>
        </p:spPr>
        <p:txBody>
          <a:bodyPr wrap="square" lIns="0" tIns="0" rIns="0" anchor="b" anchorCtr="0">
            <a:noAutofit/>
          </a:bodyPr>
          <a:lstStyle>
            <a:lvl1pPr marL="0" indent="0">
              <a:lnSpc>
                <a:spcPts val="172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98080" y="3621024"/>
            <a:ext cx="3886200" cy="11795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/>
            </a:lvl1pPr>
            <a:lvl2pPr marL="228600">
              <a:lnSpc>
                <a:spcPct val="100000"/>
              </a:lnSpc>
              <a:defRPr sz="1400"/>
            </a:lvl2pPr>
            <a:lvl3pPr marL="457200">
              <a:lnSpc>
                <a:spcPct val="100000"/>
              </a:lnSpc>
              <a:defRPr sz="1400"/>
            </a:lvl3pPr>
            <a:lvl4pPr marL="685800">
              <a:lnSpc>
                <a:spcPct val="100000"/>
              </a:lnSpc>
              <a:defRPr sz="1400"/>
            </a:lvl4pPr>
            <a:lvl5pPr marL="1143000"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9A9D2-C6ED-A99E-6041-56B5688418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71F094C-919A-3E78-DE58-27C2B997C9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D6DBECB-0E53-C186-A485-96A8FC1252C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98448" y="612648"/>
            <a:ext cx="3200400" cy="3200400"/>
          </a:xfrm>
          <a:prstGeom prst="ellipse">
            <a:avLst/>
          </a:prstGeo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F0B28D44-29B3-3396-973D-82E3611612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98080" y="5129784"/>
            <a:ext cx="4114800" cy="347472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noFill/>
        </p:spPr>
        <p:txBody>
          <a:bodyPr wrap="square" lIns="0" tIns="0" rIns="0" anchor="b" anchorCtr="0">
            <a:noAutofit/>
          </a:bodyPr>
          <a:lstStyle>
            <a:lvl1pPr marL="0" indent="0">
              <a:lnSpc>
                <a:spcPts val="172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C06156AC-1153-3958-CFE6-6CDCC21C38A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8080" y="5568696"/>
            <a:ext cx="3886200" cy="90525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/>
            </a:lvl1pPr>
            <a:lvl2pPr marL="228600">
              <a:lnSpc>
                <a:spcPct val="100000"/>
              </a:lnSpc>
              <a:defRPr sz="1400"/>
            </a:lvl2pPr>
            <a:lvl3pPr marL="457200">
              <a:lnSpc>
                <a:spcPct val="100000"/>
              </a:lnSpc>
              <a:defRPr sz="1400"/>
            </a:lvl3pPr>
            <a:lvl4pPr marL="685800">
              <a:lnSpc>
                <a:spcPct val="100000"/>
              </a:lnSpc>
              <a:defRPr sz="1400"/>
            </a:lvl4pPr>
            <a:lvl5pPr marL="1143000"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4CE90CA-176B-1E45-FECF-0290B1DCF55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45352" y="704088"/>
            <a:ext cx="914400" cy="91440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365BC287-99EE-D6FA-48B9-1E6FFE9357E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45352" y="3273552"/>
            <a:ext cx="914400" cy="91440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ECE7A377-A1E6-77DF-79F9-F251BD75774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45352" y="5166360"/>
            <a:ext cx="914400" cy="91440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D976B1-BEF2-CB69-E97E-A6DAD1F04689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116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358819-7D9B-11CB-DBC5-CC8BC5C076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EB2EEB-FE70-98B2-9437-0E1E91F92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FAA902D-BDC9-E5AF-D40D-7B8DE616EBE0}"/>
              </a:ext>
            </a:extLst>
          </p:cNvPr>
          <p:cNvCxnSpPr>
            <a:cxnSpLocks/>
          </p:cNvCxnSpPr>
          <p:nvPr userDrawn="1"/>
        </p:nvCxnSpPr>
        <p:spPr>
          <a:xfrm>
            <a:off x="5890260" y="1536192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2A4017E-4CAA-8499-38AE-3A3306A7EB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34640" y="2057400"/>
            <a:ext cx="6519672" cy="2971800"/>
          </a:xfrm>
          <a:solidFill>
            <a:schemeClr val="accent4"/>
          </a:solidFill>
        </p:spPr>
        <p:txBody>
          <a:bodyPr lIns="576072" tIns="228600" rIns="576072" bIns="228600" anchor="ctr"/>
          <a:lstStyle>
            <a:lvl1pPr marL="0" indent="0" algn="ctr">
              <a:lnSpc>
                <a:spcPts val="2460"/>
              </a:lnSpc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9103CB5-F9EF-D6DA-A5D4-DCCAEBEBE6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71216" y="5330952"/>
            <a:ext cx="6519672" cy="152704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17F00C-8F19-CB9F-D5BF-9A5F4C77E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6324" y="609600"/>
            <a:ext cx="3959352" cy="53035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626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C402F40-958A-D2BF-629C-39B659EC9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1999" cy="6858000"/>
          </a:xfrm>
          <a:custGeom>
            <a:avLst/>
            <a:gdLst>
              <a:gd name="connsiteX0" fmla="*/ 5890261 w 12191999"/>
              <a:gd name="connsiteY0" fmla="*/ 4496651 h 6858000"/>
              <a:gd name="connsiteX1" fmla="*/ 5890261 w 12191999"/>
              <a:gd name="connsiteY1" fmla="*/ 4584953 h 6858000"/>
              <a:gd name="connsiteX2" fmla="*/ 6299835 w 12191999"/>
              <a:gd name="connsiteY2" fmla="*/ 4584953 h 6858000"/>
              <a:gd name="connsiteX3" fmla="*/ 6299835 w 12191999"/>
              <a:gd name="connsiteY3" fmla="*/ 4496651 h 6858000"/>
              <a:gd name="connsiteX4" fmla="*/ 0 w 12191999"/>
              <a:gd name="connsiteY4" fmla="*/ 0 h 6858000"/>
              <a:gd name="connsiteX5" fmla="*/ 12191999 w 12191999"/>
              <a:gd name="connsiteY5" fmla="*/ 0 h 6858000"/>
              <a:gd name="connsiteX6" fmla="*/ 12191999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5890261" y="4496651"/>
                </a:moveTo>
                <a:lnTo>
                  <a:pt x="5890261" y="4584953"/>
                </a:lnTo>
                <a:lnTo>
                  <a:pt x="6299835" y="4584953"/>
                </a:lnTo>
                <a:lnTo>
                  <a:pt x="6299835" y="4496651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715" y="1485302"/>
            <a:ext cx="9120570" cy="3887396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bIns="1097280" anchor="b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612648"/>
            <a:ext cx="2286000" cy="228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5751576"/>
            <a:ext cx="9116568" cy="722376"/>
          </a:xfrm>
        </p:spPr>
        <p:txBody>
          <a:bodyPr anchor="ctr"/>
          <a:lstStyle>
            <a:lvl1pPr marL="0" indent="0" algn="ctr">
              <a:buNone/>
              <a:defRPr sz="20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9017C4-5BB0-DF6F-781B-FB81A3A5D977}"/>
              </a:ext>
            </a:extLst>
          </p:cNvPr>
          <p:cNvSpPr/>
          <p:nvPr userDrawn="1"/>
        </p:nvSpPr>
        <p:spPr>
          <a:xfrm>
            <a:off x="5890260" y="449665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4BC7BE-FECC-8573-D4F0-FA004B4A04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DB0707-D3A6-4BF0-3225-EC3851AD73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AE946-135C-E4E8-BA60-64AB48B87F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D67329-9F30-BEB7-31E2-FECA7FD59B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0684" y="987425"/>
            <a:ext cx="612470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844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83587-0236-046F-3B80-4D4EEA7A80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0C67779-9FAD-3FE4-5C67-7E5313C03B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0684" y="993775"/>
            <a:ext cx="612470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844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70A4E-ED43-B5A1-F8FE-762E21A30A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4125545-56D8-5212-AA45-63F7C1DBF10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010F9766-B67A-A34E-2927-9A2D6360F7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242952" y="1451496"/>
            <a:ext cx="1784352" cy="18945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cap="all" spc="1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0A131BE-DFE5-28BE-2AF8-50ADF9AFDB94}"/>
              </a:ext>
            </a:extLst>
          </p:cNvPr>
          <p:cNvCxnSpPr>
            <a:cxnSpLocks/>
          </p:cNvCxnSpPr>
          <p:nvPr userDrawn="1"/>
        </p:nvCxnSpPr>
        <p:spPr>
          <a:xfrm>
            <a:off x="649224" y="2667000"/>
            <a:ext cx="0" cy="31242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53" r:id="rId12"/>
    <p:sldLayoutId id="2147483671" r:id="rId13"/>
    <p:sldLayoutId id="2147483672" r:id="rId14"/>
    <p:sldLayoutId id="2147483673" r:id="rId15"/>
    <p:sldLayoutId id="2147483654" r:id="rId16"/>
    <p:sldLayoutId id="2147483655" r:id="rId17"/>
    <p:sldLayoutId id="2147483656" r:id="rId18"/>
    <p:sldLayoutId id="2147483657" r:id="rId1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61ABAB1-E7C7-B822-46EA-FE2779E84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493" y="457200"/>
            <a:ext cx="1207008" cy="16398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4DD043-85C3-04FF-029C-F0F2F0D6F149}"/>
              </a:ext>
            </a:extLst>
          </p:cNvPr>
          <p:cNvSpPr txBox="1"/>
          <p:nvPr/>
        </p:nvSpPr>
        <p:spPr>
          <a:xfrm>
            <a:off x="1245627" y="2144298"/>
            <a:ext cx="97007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Ahsanullah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University of Science and Technology</a:t>
            </a:r>
          </a:p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4C4F0-5179-0050-A616-013304BE3DBD}"/>
              </a:ext>
            </a:extLst>
          </p:cNvPr>
          <p:cNvSpPr txBox="1"/>
          <p:nvPr/>
        </p:nvSpPr>
        <p:spPr>
          <a:xfrm>
            <a:off x="2826381" y="3101904"/>
            <a:ext cx="65392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CSE 3104 Project Proposal</a:t>
            </a:r>
          </a:p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Topic: Hospital Resource Management System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A4870F-7A10-1F03-ADC6-2DF94D47E32A}"/>
              </a:ext>
            </a:extLst>
          </p:cNvPr>
          <p:cNvSpPr txBox="1"/>
          <p:nvPr/>
        </p:nvSpPr>
        <p:spPr>
          <a:xfrm>
            <a:off x="1524000" y="4070117"/>
            <a:ext cx="91439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By, </a:t>
            </a:r>
          </a:p>
          <a:p>
            <a:pPr algn="ctr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Student ID: 20230104110</a:t>
            </a:r>
          </a:p>
          <a:p>
            <a:pPr algn="ctr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Student ID: 20210204119</a:t>
            </a:r>
          </a:p>
          <a:p>
            <a:pPr algn="ctr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Student ID: 20210204122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8498-D13D-A16E-4E50-568EB8B98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323" y="597814"/>
            <a:ext cx="10420351" cy="770792"/>
          </a:xfrm>
        </p:spPr>
        <p:txBody>
          <a:bodyPr/>
          <a:lstStyle/>
          <a:p>
            <a:pPr algn="just"/>
            <a:r>
              <a:rPr lang="en-US" sz="3400" b="1" dirty="0">
                <a:latin typeface="Cambria" panose="02040503050406030204" pitchFamily="18" charset="0"/>
                <a:ea typeface="Cambria" panose="02040503050406030204" pitchFamily="18" charset="0"/>
              </a:rPr>
              <a:t>Overview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C2E68-379C-FA70-A8A1-288A289502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9EB2A9-98DE-3B77-73AA-55F0F6153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62" y="385969"/>
            <a:ext cx="689804" cy="9371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F932B9-3231-581B-1EF0-433B8034E7E3}"/>
              </a:ext>
            </a:extLst>
          </p:cNvPr>
          <p:cNvSpPr txBox="1"/>
          <p:nvPr/>
        </p:nvSpPr>
        <p:spPr>
          <a:xfrm>
            <a:off x="1457323" y="1858981"/>
            <a:ext cx="99345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Introduction 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Requirements 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Goals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Functionalities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Features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Entity Relationship Diagram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Development Tools and Platforms</a:t>
            </a:r>
          </a:p>
        </p:txBody>
      </p:sp>
    </p:spTree>
    <p:extLst>
      <p:ext uri="{BB962C8B-B14F-4D97-AF65-F5344CB8AC3E}">
        <p14:creationId xmlns:p14="http://schemas.microsoft.com/office/powerpoint/2010/main" val="3305100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8498-D13D-A16E-4E50-568EB8B98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323" y="597814"/>
            <a:ext cx="10420351" cy="770792"/>
          </a:xfrm>
        </p:spPr>
        <p:txBody>
          <a:bodyPr/>
          <a:lstStyle/>
          <a:p>
            <a:pPr algn="just"/>
            <a:r>
              <a:rPr lang="en-US" sz="3400" b="1" dirty="0">
                <a:latin typeface="Cambria" panose="02040503050406030204" pitchFamily="18" charset="0"/>
                <a:ea typeface="Cambria" panose="02040503050406030204" pitchFamily="18" charset="0"/>
              </a:rPr>
              <a:t>Introduction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C2E68-379C-FA70-A8A1-288A289502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9EB2A9-98DE-3B77-73AA-55F0F6153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62" y="385969"/>
            <a:ext cx="689804" cy="937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63C97E-09EB-4876-EC07-D09B8DDF3615}"/>
              </a:ext>
            </a:extLst>
          </p:cNvPr>
          <p:cNvSpPr txBox="1"/>
          <p:nvPr/>
        </p:nvSpPr>
        <p:spPr>
          <a:xfrm>
            <a:off x="1457323" y="1574531"/>
            <a:ext cx="1020978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/>
              <a:t>LifeLink</a:t>
            </a:r>
            <a:r>
              <a:rPr lang="en-GB" sz="2800" dirty="0"/>
              <a:t> is a real-time, database-driven application designed to manage critical hospital resources efficiently.</a:t>
            </a:r>
            <a:br>
              <a:rPr lang="en-GB" sz="2800" dirty="0"/>
            </a:br>
            <a:r>
              <a:rPr lang="en-GB" sz="2800" dirty="0"/>
              <a:t>The system centralizes data on beds, blood banks, medical equipment, staff, and emergency supplies into a single structured database.</a:t>
            </a:r>
            <a:br>
              <a:rPr lang="en-GB" sz="2800" dirty="0"/>
            </a:br>
            <a:r>
              <a:rPr lang="en-GB" sz="2800" dirty="0"/>
              <a:t>It focuses on real-time tracking, automation, and intelligent allocation to improve emergency response and operational efficiency in crowded hospitals.</a:t>
            </a:r>
            <a:br>
              <a:rPr lang="en-GB" sz="2800" dirty="0"/>
            </a:br>
            <a:r>
              <a:rPr lang="en-GB" sz="2800" dirty="0"/>
              <a:t>Implemented using MySQL and modern web technologies, it ensures data integrity, scalability, and real-world applicability in medical environments.</a:t>
            </a:r>
          </a:p>
        </p:txBody>
      </p:sp>
    </p:spTree>
    <p:extLst>
      <p:ext uri="{BB962C8B-B14F-4D97-AF65-F5344CB8AC3E}">
        <p14:creationId xmlns:p14="http://schemas.microsoft.com/office/powerpoint/2010/main" val="3411046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8498-D13D-A16E-4E50-568EB8B98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323" y="597814"/>
            <a:ext cx="10420351" cy="770792"/>
          </a:xfrm>
        </p:spPr>
        <p:txBody>
          <a:bodyPr/>
          <a:lstStyle/>
          <a:p>
            <a:pPr algn="just"/>
            <a:r>
              <a:rPr lang="en-US" sz="3400" b="1" dirty="0"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C2E68-379C-FA70-A8A1-288A289502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9EB2A9-98DE-3B77-73AA-55F0F6153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62" y="385969"/>
            <a:ext cx="689804" cy="937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63C97E-09EB-4876-EC07-D09B8DDF3615}"/>
              </a:ext>
            </a:extLst>
          </p:cNvPr>
          <p:cNvSpPr txBox="1"/>
          <p:nvPr/>
        </p:nvSpPr>
        <p:spPr>
          <a:xfrm>
            <a:off x="1371059" y="1741423"/>
            <a:ext cx="1020978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To eliminate delays in locating ICU beds and emergency resources during critical situations.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To provide real-time visibility into blood bank inventory and prevent shortages during emergencies.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To reduce manual errors and time wastage in tracking medical equipment and staff availability.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To improve coordination between hospital departments during mass casualty events.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To enable predictive resource management and data-driven decision-making for hospital administrators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3908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8498-D13D-A16E-4E50-568EB8B98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323" y="597814"/>
            <a:ext cx="10420351" cy="770792"/>
          </a:xfrm>
        </p:spPr>
        <p:txBody>
          <a:bodyPr/>
          <a:lstStyle/>
          <a:p>
            <a:pPr algn="just"/>
            <a:r>
              <a:rPr lang="en-US" sz="3600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REQUIREMENTS</a:t>
            </a:r>
            <a:endParaRPr lang="en-US" sz="3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C2E68-379C-FA70-A8A1-288A289502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9EB2A9-98DE-3B77-73AA-55F0F6153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62" y="385969"/>
            <a:ext cx="689804" cy="937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63C97E-09EB-4876-EC07-D09B8DDF3615}"/>
              </a:ext>
            </a:extLst>
          </p:cNvPr>
          <p:cNvSpPr txBox="1"/>
          <p:nvPr/>
        </p:nvSpPr>
        <p:spPr>
          <a:xfrm>
            <a:off x="1457323" y="1531052"/>
            <a:ext cx="1020978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Goals: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To design a reliable, real-time relational database for hospital resource 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To ensure data integrity through proper normalization, constraints, and validation.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To support complete resource lifecycle tracking—from availability to allocation and replenishment.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To provide an intuitive dashboard for doctors, staff, and administrators for seamless resource management</a:t>
            </a:r>
          </a:p>
        </p:txBody>
      </p:sp>
    </p:spTree>
    <p:extLst>
      <p:ext uri="{BB962C8B-B14F-4D97-AF65-F5344CB8AC3E}">
        <p14:creationId xmlns:p14="http://schemas.microsoft.com/office/powerpoint/2010/main" val="3784269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8498-D13D-A16E-4E50-568EB8B98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323" y="597814"/>
            <a:ext cx="10420351" cy="770792"/>
          </a:xfrm>
        </p:spPr>
        <p:txBody>
          <a:bodyPr/>
          <a:lstStyle/>
          <a:p>
            <a:pPr algn="just"/>
            <a:r>
              <a:rPr lang="en-GB" sz="3400" b="1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lang="en-US" sz="3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C2E68-379C-FA70-A8A1-288A289502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9EB2A9-98DE-3B77-73AA-55F0F6153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62" y="385969"/>
            <a:ext cx="689804" cy="937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63C97E-09EB-4876-EC07-D09B8DDF3615}"/>
              </a:ext>
            </a:extLst>
          </p:cNvPr>
          <p:cNvSpPr txBox="1"/>
          <p:nvPr/>
        </p:nvSpPr>
        <p:spPr>
          <a:xfrm>
            <a:off x="1457323" y="1528549"/>
            <a:ext cx="1020978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To maintain real-time status of beds (occupied/vacant/cleaning) across all wards.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To track blood inventory by type, quantity, expiry, and transfusion logs.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To monitor medical equipment usage, maintenance schedules, and availability.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To manage staff schedules, specialties, and real-time location within the hospital.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To enable emergency resource tracking and automated alerting for low stock.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To provide role-based access for doctors, nurses, administrators, and lab staff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77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8498-D13D-A16E-4E50-568EB8B98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323" y="597814"/>
            <a:ext cx="10420351" cy="770792"/>
          </a:xfrm>
        </p:spPr>
        <p:txBody>
          <a:bodyPr/>
          <a:lstStyle/>
          <a:p>
            <a:pPr algn="just"/>
            <a:r>
              <a:rPr lang="en-US" sz="3600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REQUIREMENTS</a:t>
            </a:r>
            <a:endParaRPr lang="en-US" sz="3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C2E68-379C-FA70-A8A1-288A289502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9EB2A9-98DE-3B77-73AA-55F0F6153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62" y="385969"/>
            <a:ext cx="689804" cy="937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63C97E-09EB-4876-EC07-D09B8DDF3615}"/>
              </a:ext>
            </a:extLst>
          </p:cNvPr>
          <p:cNvSpPr txBox="1"/>
          <p:nvPr/>
        </p:nvSpPr>
        <p:spPr>
          <a:xfrm>
            <a:off x="1457323" y="1528549"/>
            <a:ext cx="10209783" cy="3989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Functionalities:</a:t>
            </a:r>
            <a:b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800" b="1" dirty="0"/>
              <a:t>1. Resource Management Module:</a:t>
            </a:r>
            <a:endParaRPr lang="en-GB" sz="28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Real-time bed allocation and status updates.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Blood inventory management with expiry tracking.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Equipment maintenance and availability logs.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Staff duty scheduling and availability tracking.</a:t>
            </a:r>
          </a:p>
        </p:txBody>
      </p:sp>
    </p:spTree>
    <p:extLst>
      <p:ext uri="{BB962C8B-B14F-4D97-AF65-F5344CB8AC3E}">
        <p14:creationId xmlns:p14="http://schemas.microsoft.com/office/powerpoint/2010/main" val="3180488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8498-D13D-A16E-4E50-568EB8B98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323" y="597814"/>
            <a:ext cx="10420351" cy="770792"/>
          </a:xfrm>
        </p:spPr>
        <p:txBody>
          <a:bodyPr/>
          <a:lstStyle/>
          <a:p>
            <a:pPr algn="just"/>
            <a:r>
              <a:rPr lang="en-US" sz="3600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REQUIREMENTS</a:t>
            </a:r>
            <a:endParaRPr lang="en-US" sz="3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C2E68-379C-FA70-A8A1-288A289502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9EB2A9-98DE-3B77-73AA-55F0F6153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62" y="385969"/>
            <a:ext cx="689804" cy="937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63C97E-09EB-4876-EC07-D09B8DDF3615}"/>
              </a:ext>
            </a:extLst>
          </p:cNvPr>
          <p:cNvSpPr txBox="1"/>
          <p:nvPr/>
        </p:nvSpPr>
        <p:spPr>
          <a:xfrm>
            <a:off x="1457323" y="1528549"/>
            <a:ext cx="10209783" cy="3897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Functionalities:</a:t>
            </a:r>
            <a:endParaRPr lang="en-GB" sz="2800" b="1" dirty="0"/>
          </a:p>
          <a:p>
            <a:pPr>
              <a:lnSpc>
                <a:spcPct val="150000"/>
              </a:lnSpc>
            </a:pPr>
            <a:r>
              <a:rPr lang="en-GB" sz="2800" b="1" dirty="0"/>
              <a:t>2. Emergency &amp; Operational Module: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Instant resource lookup during emergencies.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Automated alerts for low stock or expired items.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Inter-department resource request and approval system.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Disaster mode for mass casualty resource mapping.</a:t>
            </a:r>
          </a:p>
        </p:txBody>
      </p:sp>
    </p:spTree>
    <p:extLst>
      <p:ext uri="{BB962C8B-B14F-4D97-AF65-F5344CB8AC3E}">
        <p14:creationId xmlns:p14="http://schemas.microsoft.com/office/powerpoint/2010/main" val="2996005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8498-D13D-A16E-4E50-568EB8B98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323" y="597814"/>
            <a:ext cx="10420351" cy="770792"/>
          </a:xfrm>
        </p:spPr>
        <p:txBody>
          <a:bodyPr/>
          <a:lstStyle/>
          <a:p>
            <a:pPr algn="just"/>
            <a:r>
              <a:rPr lang="en-US" sz="3600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REQUIREMENTS</a:t>
            </a:r>
            <a:endParaRPr lang="en-US" sz="3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C2E68-379C-FA70-A8A1-288A289502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9EB2A9-98DE-3B77-73AA-55F0F6153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62" y="385969"/>
            <a:ext cx="689804" cy="937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63C97E-09EB-4876-EC07-D09B8DDF3615}"/>
              </a:ext>
            </a:extLst>
          </p:cNvPr>
          <p:cNvSpPr txBox="1"/>
          <p:nvPr/>
        </p:nvSpPr>
        <p:spPr>
          <a:xfrm>
            <a:off x="1457323" y="1528549"/>
            <a:ext cx="10209783" cy="3897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Functionalities:</a:t>
            </a:r>
            <a:endParaRPr lang="en-GB" sz="2800" b="1" dirty="0"/>
          </a:p>
          <a:p>
            <a:pPr>
              <a:lnSpc>
                <a:spcPct val="150000"/>
              </a:lnSpc>
            </a:pPr>
            <a:r>
              <a:rPr lang="en-GB" sz="2800" b="1" dirty="0"/>
              <a:t>3. Administrative Module:</a:t>
            </a:r>
            <a:endParaRPr lang="en-GB" sz="28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Dashboard with analytics and predictive insights.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User and role management for hospital staff.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Audit logs for resource changes and transactions.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Reporting module for compliance and planning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739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8498-D13D-A16E-4E50-568EB8B98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323" y="597814"/>
            <a:ext cx="10420351" cy="770792"/>
          </a:xfrm>
        </p:spPr>
        <p:txBody>
          <a:bodyPr/>
          <a:lstStyle/>
          <a:p>
            <a:pPr algn="just"/>
            <a:r>
              <a:rPr lang="en-US" sz="3600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REQUIREMENTS</a:t>
            </a:r>
            <a:endParaRPr lang="en-US" sz="3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C2E68-379C-FA70-A8A1-288A289502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9EB2A9-98DE-3B77-73AA-55F0F6153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62" y="385969"/>
            <a:ext cx="689804" cy="937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63C97E-09EB-4876-EC07-D09B8DDF3615}"/>
              </a:ext>
            </a:extLst>
          </p:cNvPr>
          <p:cNvSpPr txBox="1"/>
          <p:nvPr/>
        </p:nvSpPr>
        <p:spPr>
          <a:xfrm>
            <a:off x="1457323" y="1528549"/>
            <a:ext cx="10209783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Features: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Real-Time Tracking:</a:t>
            </a:r>
            <a:r>
              <a:rPr lang="en-GB" sz="2800" dirty="0"/>
              <a:t> Live updates for beds, blood, equipment, and staff.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Predictive Alerts:</a:t>
            </a:r>
            <a:r>
              <a:rPr lang="en-GB" sz="2800" dirty="0"/>
              <a:t> Automated notifications for shortages and maintenance.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Role-Based Access Control:</a:t>
            </a:r>
            <a:r>
              <a:rPr lang="en-GB" sz="2800" dirty="0"/>
              <a:t> Secure access for doctors, nurses, admins, and lab staff.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Offline Capability:</a:t>
            </a:r>
            <a:r>
              <a:rPr lang="en-GB" sz="2800" dirty="0"/>
              <a:t> Syncs data once the internet is restored.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Scalable Design:</a:t>
            </a:r>
            <a:r>
              <a:rPr lang="en-GB" sz="2800" dirty="0"/>
              <a:t> Modular structure allowing future integration with IoT and AI.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HIPAA-Compliant Security:</a:t>
            </a:r>
            <a:r>
              <a:rPr lang="en-GB" sz="2800" dirty="0"/>
              <a:t> Encrypted data and secure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1601473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8498-D13D-A16E-4E50-568EB8B98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1714500"/>
            <a:ext cx="10420351" cy="770792"/>
          </a:xfrm>
        </p:spPr>
        <p:txBody>
          <a:bodyPr/>
          <a:lstStyle/>
          <a:p>
            <a:pPr algn="just"/>
            <a:endParaRPr lang="en-US" sz="3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C2E68-379C-FA70-A8A1-288A289502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9EB2A9-98DE-3B77-73AA-55F0F6153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62" y="385969"/>
            <a:ext cx="689804" cy="9371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BDE123-7E4A-4B04-B6FE-EB7FD312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734" y="85725"/>
            <a:ext cx="11306741" cy="81914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2B127B-E775-45F9-B17B-9B1EBF11F752}"/>
              </a:ext>
            </a:extLst>
          </p:cNvPr>
          <p:cNvSpPr txBox="1"/>
          <p:nvPr/>
        </p:nvSpPr>
        <p:spPr>
          <a:xfrm>
            <a:off x="1190625" y="531382"/>
            <a:ext cx="9258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Entity Relationship Diagram</a:t>
            </a:r>
            <a:endParaRPr lang="en-US" sz="3600" b="1" dirty="0">
              <a:latin typeface="Cambria Bold" panose="020408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686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8498-D13D-A16E-4E50-568EB8B98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323" y="483514"/>
            <a:ext cx="10420351" cy="770792"/>
          </a:xfrm>
        </p:spPr>
        <p:txBody>
          <a:bodyPr/>
          <a:lstStyle/>
          <a:p>
            <a:pPr algn="just">
              <a:lnSpc>
                <a:spcPts val="5508"/>
              </a:lnSpc>
            </a:pPr>
            <a:r>
              <a:rPr lang="en-US" sz="3600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DEVELOPMENT TOOL AND PLATFORM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C2E68-379C-FA70-A8A1-288A289502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9EB2A9-98DE-3B77-73AA-55F0F6153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62" y="385969"/>
            <a:ext cx="689804" cy="937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C99704-AEAD-0B02-79A7-B9FF24C866BC}"/>
              </a:ext>
            </a:extLst>
          </p:cNvPr>
          <p:cNvSpPr txBox="1"/>
          <p:nvPr/>
        </p:nvSpPr>
        <p:spPr>
          <a:xfrm>
            <a:off x="1135626" y="1323127"/>
            <a:ext cx="9645445" cy="4543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Frontend:</a:t>
            </a:r>
            <a:r>
              <a:rPr lang="en-US" sz="2800" dirty="0"/>
              <a:t> React.js</a:t>
            </a:r>
            <a:br>
              <a:rPr lang="en-US" sz="2800" dirty="0"/>
            </a:br>
            <a:r>
              <a:rPr lang="en-US" sz="2800" b="1" dirty="0"/>
              <a:t>Backend:</a:t>
            </a:r>
            <a:r>
              <a:rPr lang="en-US" sz="2800" dirty="0"/>
              <a:t> Node.js, Express.js</a:t>
            </a:r>
            <a:br>
              <a:rPr lang="en-US" sz="2800" dirty="0"/>
            </a:br>
            <a:r>
              <a:rPr lang="en-US" sz="2800" b="1" dirty="0"/>
              <a:t>Database:</a:t>
            </a:r>
            <a:r>
              <a:rPr lang="en-US" sz="2800" dirty="0"/>
              <a:t> MySQL, Redis (caching)</a:t>
            </a:r>
            <a:br>
              <a:rPr lang="en-US" sz="2800" dirty="0"/>
            </a:br>
            <a:r>
              <a:rPr lang="en-US" sz="2800" b="1" dirty="0"/>
              <a:t>Real-Time Communication:</a:t>
            </a:r>
            <a:r>
              <a:rPr lang="en-US" sz="2800" dirty="0"/>
              <a:t> Socket </a:t>
            </a:r>
            <a:br>
              <a:rPr lang="en-US" sz="2800" dirty="0"/>
            </a:br>
            <a:r>
              <a:rPr lang="en-US" sz="2800" b="1" dirty="0"/>
              <a:t>Version Control:</a:t>
            </a:r>
            <a:r>
              <a:rPr lang="en-US" sz="2800" dirty="0"/>
              <a:t> Git, GitHub</a:t>
            </a:r>
            <a:br>
              <a:rPr lang="en-US" sz="2800" dirty="0"/>
            </a:br>
            <a:r>
              <a:rPr lang="en-US" sz="2800" b="1" dirty="0"/>
              <a:t>Deployment:</a:t>
            </a:r>
            <a:r>
              <a:rPr lang="en-US" sz="2800" dirty="0"/>
              <a:t> Docker, AWS/Azure (optional)</a:t>
            </a:r>
            <a:br>
              <a:rPr lang="en-US" sz="2800" dirty="0"/>
            </a:br>
            <a:r>
              <a:rPr lang="en-US" sz="2800" b="1" dirty="0"/>
              <a:t>Security:</a:t>
            </a:r>
            <a:r>
              <a:rPr lang="en-US" sz="2800" dirty="0"/>
              <a:t> JWT, encryption, HIPAA-compliant practices</a:t>
            </a:r>
          </a:p>
        </p:txBody>
      </p:sp>
    </p:spTree>
    <p:extLst>
      <p:ext uri="{BB962C8B-B14F-4D97-AF65-F5344CB8AC3E}">
        <p14:creationId xmlns:p14="http://schemas.microsoft.com/office/powerpoint/2010/main" val="3380276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8498-D13D-A16E-4E50-568EB8B98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323" y="597814"/>
            <a:ext cx="10420351" cy="770792"/>
          </a:xfrm>
        </p:spPr>
        <p:txBody>
          <a:bodyPr/>
          <a:lstStyle/>
          <a:p>
            <a:pPr algn="just"/>
            <a:r>
              <a:rPr lang="en-US" sz="3600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CONCLUSION</a:t>
            </a:r>
            <a:endParaRPr lang="en-US" sz="3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C2E68-379C-FA70-A8A1-288A289502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13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9EB2A9-98DE-3B77-73AA-55F0F6153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62" y="385969"/>
            <a:ext cx="689804" cy="937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63C97E-09EB-4876-EC07-D09B8DDF3615}"/>
              </a:ext>
            </a:extLst>
          </p:cNvPr>
          <p:cNvSpPr txBox="1"/>
          <p:nvPr/>
        </p:nvSpPr>
        <p:spPr>
          <a:xfrm>
            <a:off x="991108" y="1323127"/>
            <a:ext cx="10209783" cy="5190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Successfully models real-world hospital resource management challenges.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Organizes critical data efficiently to ensure consistency and real-time usability.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Designed to support scalable, life-saving operational processes.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Demonstrates the power of a well-structured database for complex, critical applications.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Provides hands-on experience in practical, impact-driven system design</a:t>
            </a:r>
          </a:p>
        </p:txBody>
      </p:sp>
    </p:spTree>
    <p:extLst>
      <p:ext uri="{BB962C8B-B14F-4D97-AF65-F5344CB8AC3E}">
        <p14:creationId xmlns:p14="http://schemas.microsoft.com/office/powerpoint/2010/main" val="2621358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978ADB-AD70-DE7C-4643-85C48AE127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03147-27BE-7492-36B6-F405F1156F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34640" y="2951989"/>
            <a:ext cx="6519672" cy="2971800"/>
          </a:xfrm>
        </p:spPr>
        <p:txBody>
          <a:bodyPr/>
          <a:lstStyle/>
          <a:p>
            <a:r>
              <a:rPr lang="en-US" sz="4000" b="1" spc="1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Posterama" panose="020B0504020200020000" pitchFamily="34" charset="0"/>
              </a:rPr>
              <a:t>Thank you</a:t>
            </a:r>
            <a:endParaRPr lang="en-US" sz="4000" b="1" spc="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  <a:cs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C6369C-5D52-62E3-F083-072FA6E3B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972" y="780288"/>
            <a:ext cx="1207008" cy="163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20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008000"/>
      </a:dk2>
      <a:lt2>
        <a:srgbClr val="E3DED1"/>
      </a:lt2>
      <a:accent1>
        <a:srgbClr val="008000"/>
      </a:accent1>
      <a:accent2>
        <a:srgbClr val="008000"/>
      </a:accent2>
      <a:accent3>
        <a:srgbClr val="C0CF3A"/>
      </a:accent3>
      <a:accent4>
        <a:srgbClr val="008000"/>
      </a:accent4>
      <a:accent5>
        <a:srgbClr val="4AB5C4"/>
      </a:accent5>
      <a:accent6>
        <a:srgbClr val="0989B1"/>
      </a:accent6>
      <a:hlink>
        <a:srgbClr val="008000"/>
      </a:hlink>
      <a:folHlink>
        <a:srgbClr val="BA6906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-Discovery_Win32_EF_v4" id="{D94798B6-E450-4518-8015-6EE17CD1412B}" vid="{16A04E6B-C80A-471C-86D6-D49E9EAD76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E8B3377-22F1-4153-96F0-CC2E4BE41C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B2FABB-45EC-440E-B647-8CA57BA45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9746342-5E84-430E-9251-61001F208E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{7F82CCDA-A111-4309-A13D-D6BFE7883514}tf67061901_win32</Template>
  <TotalTime>2570</TotalTime>
  <Words>671</Words>
  <Application>Microsoft Office PowerPoint</Application>
  <PresentationFormat>Widescreen</PresentationFormat>
  <Paragraphs>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Cambria</vt:lpstr>
      <vt:lpstr>Cambria Bold</vt:lpstr>
      <vt:lpstr>Cambria Math</vt:lpstr>
      <vt:lpstr>Daytona Condensed Light</vt:lpstr>
      <vt:lpstr>Posterama</vt:lpstr>
      <vt:lpstr>Wingdings</vt:lpstr>
      <vt:lpstr>Office Theme</vt:lpstr>
      <vt:lpstr>PowerPoint Presentation</vt:lpstr>
      <vt:lpstr>Overview </vt:lpstr>
      <vt:lpstr>Introduction </vt:lpstr>
      <vt:lpstr>Motivation</vt:lpstr>
      <vt:lpstr>REQUIREMENTS</vt:lpstr>
      <vt:lpstr>Objectives</vt:lpstr>
      <vt:lpstr>REQUIREMENTS</vt:lpstr>
      <vt:lpstr>REQUIREMENTS</vt:lpstr>
      <vt:lpstr>REQUIREMENTS</vt:lpstr>
      <vt:lpstr>REQUIREMENTS</vt:lpstr>
      <vt:lpstr>PowerPoint Presentation</vt:lpstr>
      <vt:lpstr>DEVELOPMENT TOOL AND PLATFORM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AUST UG CSE Program</dc:title>
  <dc:creator>ASUS</dc:creator>
  <cp:lastModifiedBy>mustakim7038@gmail.com</cp:lastModifiedBy>
  <cp:revision>21</cp:revision>
  <dcterms:created xsi:type="dcterms:W3CDTF">2023-10-17T14:04:25Z</dcterms:created>
  <dcterms:modified xsi:type="dcterms:W3CDTF">2026-01-19T01:39:34Z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